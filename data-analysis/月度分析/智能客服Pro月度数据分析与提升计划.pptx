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4"/>
  </p:normalViewPr>
  <p:slideViewPr>
    <p:cSldViewPr snapToGrid="0">
      <p:cViewPr varScale="1">
        <p:scale>
          <a:sx n="108" d="100"/>
          <a:sy n="108" d="100"/>
        </p:scale>
        <p:origin x="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5 月</c:v>
          </c:tx>
          <c:spPr>
            <a:solidFill>
              <a:srgbClr val="B8BCC4"/>
            </a:solidFill>
          </c:spPr>
          <c:invertIfNegative val="1"/>
          <c:dLbls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已交付</c:v>
              </c:pt>
              <c:pt idx="1">
                <c:v>活跃</c:v>
              </c:pt>
              <c:pt idx="2">
                <c:v>有效果</c:v>
              </c:pt>
            </c:strLit>
          </c:cat>
          <c:val>
            <c:numLit>
              <c:formatCode>General</c:formatCode>
              <c:ptCount val="3"/>
              <c:pt idx="0">
                <c:v>540</c:v>
              </c:pt>
              <c:pt idx="1">
                <c:v>187</c:v>
              </c:pt>
              <c:pt idx="2">
                <c:v>216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3A6-F442-BFB9-51C1A6FAA574}"/>
            </c:ext>
          </c:extLst>
        </c:ser>
        <c:ser>
          <c:idx val="1"/>
          <c:order val="1"/>
          <c:tx>
            <c:v>6 月</c:v>
          </c:tx>
          <c:spPr>
            <a:solidFill>
              <a:srgbClr val="FF6B35"/>
            </a:solidFill>
          </c:spPr>
          <c:invertIfNegative val="1"/>
          <c:dLbls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已交付</c:v>
              </c:pt>
              <c:pt idx="1">
                <c:v>活跃</c:v>
              </c:pt>
              <c:pt idx="2">
                <c:v>有效果</c:v>
              </c:pt>
            </c:strLit>
          </c:cat>
          <c:val>
            <c:numLit>
              <c:formatCode>General</c:formatCode>
              <c:ptCount val="3"/>
              <c:pt idx="0">
                <c:v>623</c:v>
              </c:pt>
              <c:pt idx="1">
                <c:v>216</c:v>
              </c:pt>
              <c:pt idx="2">
                <c:v>253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3A6-F442-BFB9-51C1A6FAA574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txPr>
    <a:bodyPr/>
    <a:lstStyle/>
    <a:p>
      <a:pPr>
        <a:defRPr sz="500"/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1809A59-31B8-4777-B078-8A07A5E37BC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5-6 月数据诊断：规模增长明显，但互动前段走弱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28301E-2E3F-4843-BDD1-6B75B4105218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8334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对比 5 月和 6 月，智能客服 Pro 的销售与交付规模继续扩大，线索转化率提升；但客户使用活跃和访客开聊前段偏弱，是下一期项目要优先拉动的指标。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5B551E-ECCA-4F02-BD22-9410A0ED3167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2000250" cy="112395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9A782B-7CE1-4D36-951C-38C45E832201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售卖客户数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FA4A9-8D07-4676-92A0-3BD9F5AE2AF8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75" b="1">
                <a:solidFill>
                  <a:srgbClr val="108A00"/>
                </a:solidFill>
              </a:defRPr>
            </a:pPr>
            <a:r>
              <a:rPr sz="3075" b="1">
                <a:solidFill>
                  <a:srgbClr val="108A00"/>
                </a:solidFill>
              </a:rPr>
              <a:t>1056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CACA2E-76FC-41C1-9E96-65BCD3117732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较 5 月 779，+35.6%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A9321-49C0-4011-BA22-14C5050E4603}"/>
              </a:ext>
            </a:extLst>
          </p:cNvPr>
          <p:cNvSpPr>
            <a:spLocks noGrp="1"/>
          </p:cNvSpPr>
          <p:nvPr/>
        </p:nvSpPr>
        <p:spPr>
          <a:xfrm>
            <a:off x="2552700" y="1885950"/>
            <a:ext cx="2000250" cy="112395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82D167-C0B4-4DB4-86F0-B952A08088C7}"/>
              </a:ext>
            </a:extLst>
          </p:cNvPr>
          <p:cNvSpPr>
            <a:spLocks noGrp="1"/>
          </p:cNvSpPr>
          <p:nvPr/>
        </p:nvSpPr>
        <p:spPr>
          <a:xfrm>
            <a:off x="2724150" y="20193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已交付客户数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B7B16D-E2C3-4EEB-A27C-86BB335899B4}"/>
              </a:ext>
            </a:extLst>
          </p:cNvPr>
          <p:cNvSpPr>
            <a:spLocks noGrp="1"/>
          </p:cNvSpPr>
          <p:nvPr/>
        </p:nvSpPr>
        <p:spPr>
          <a:xfrm>
            <a:off x="2724150" y="2266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75" b="1">
                <a:solidFill>
                  <a:srgbClr val="000000"/>
                </a:solidFill>
              </a:defRPr>
            </a:pPr>
            <a:r>
              <a:rPr sz="3075" b="1">
                <a:solidFill>
                  <a:srgbClr val="000000"/>
                </a:solidFill>
              </a:rPr>
              <a:t>623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2CE132-7354-4538-A912-294E6D30DA41}"/>
              </a:ext>
            </a:extLst>
          </p:cNvPr>
          <p:cNvSpPr>
            <a:spLocks noGrp="1"/>
          </p:cNvSpPr>
          <p:nvPr/>
        </p:nvSpPr>
        <p:spPr>
          <a:xfrm>
            <a:off x="2724150" y="2724150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较 5 月 540，+15.4%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EB3573-840D-46EE-A979-4FBC8942B32E}"/>
              </a:ext>
            </a:extLst>
          </p:cNvPr>
          <p:cNvSpPr>
            <a:spLocks noGrp="1"/>
          </p:cNvSpPr>
          <p:nvPr/>
        </p:nvSpPr>
        <p:spPr>
          <a:xfrm>
            <a:off x="4705350" y="1885950"/>
            <a:ext cx="2000250" cy="112395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6D93AA-BEF5-4FDE-83C1-15572AC17688}"/>
              </a:ext>
            </a:extLst>
          </p:cNvPr>
          <p:cNvSpPr>
            <a:spLocks noGrp="1"/>
          </p:cNvSpPr>
          <p:nvPr/>
        </p:nvSpPr>
        <p:spPr>
          <a:xfrm>
            <a:off x="4876800" y="20193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互动用户率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BE6AB8-AEFE-4C02-9332-1BF5C4E5DB91}"/>
              </a:ext>
            </a:extLst>
          </p:cNvPr>
          <p:cNvSpPr>
            <a:spLocks noGrp="1"/>
          </p:cNvSpPr>
          <p:nvPr/>
        </p:nvSpPr>
        <p:spPr>
          <a:xfrm>
            <a:off x="4876800" y="2266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75" b="1">
                <a:solidFill>
                  <a:srgbClr val="C5341C"/>
                </a:solidFill>
              </a:defRPr>
            </a:pPr>
            <a:r>
              <a:rPr sz="3075" b="1">
                <a:solidFill>
                  <a:srgbClr val="C5341C"/>
                </a:solidFill>
              </a:rPr>
              <a:t>3.97%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B50EE3-1B7F-44B6-9F37-F311DC9007C9}"/>
              </a:ext>
            </a:extLst>
          </p:cNvPr>
          <p:cNvSpPr>
            <a:spLocks noGrp="1"/>
          </p:cNvSpPr>
          <p:nvPr/>
        </p:nvSpPr>
        <p:spPr>
          <a:xfrm>
            <a:off x="4876800" y="2724150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较 5 月 4.52%，-0.55%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F8A957-9FE3-47D0-AAAE-14C0B4300525}"/>
              </a:ext>
            </a:extLst>
          </p:cNvPr>
          <p:cNvSpPr>
            <a:spLocks noGrp="1"/>
          </p:cNvSpPr>
          <p:nvPr/>
        </p:nvSpPr>
        <p:spPr>
          <a:xfrm>
            <a:off x="6858000" y="1885950"/>
            <a:ext cx="2000250" cy="112395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08B787-BD46-4725-BEDB-4D041DC8DB44}"/>
              </a:ext>
            </a:extLst>
          </p:cNvPr>
          <p:cNvSpPr>
            <a:spLocks noGrp="1"/>
          </p:cNvSpPr>
          <p:nvPr/>
        </p:nvSpPr>
        <p:spPr>
          <a:xfrm>
            <a:off x="7029450" y="20193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线索转化率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1B6E0-6C59-4A55-8529-02674D5D5D0A}"/>
              </a:ext>
            </a:extLst>
          </p:cNvPr>
          <p:cNvSpPr>
            <a:spLocks noGrp="1"/>
          </p:cNvSpPr>
          <p:nvPr/>
        </p:nvSpPr>
        <p:spPr>
          <a:xfrm>
            <a:off x="7029450" y="2266950"/>
            <a:ext cx="165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75" b="1">
                <a:solidFill>
                  <a:srgbClr val="108A00"/>
                </a:solidFill>
              </a:defRPr>
            </a:pPr>
            <a:r>
              <a:rPr sz="3075" b="1">
                <a:solidFill>
                  <a:srgbClr val="108A00"/>
                </a:solidFill>
              </a:rPr>
              <a:t>14.04%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B18E6E-2931-425B-9D7F-4E2B68387B40}"/>
              </a:ext>
            </a:extLst>
          </p:cNvPr>
          <p:cNvSpPr>
            <a:spLocks noGrp="1"/>
          </p:cNvSpPr>
          <p:nvPr/>
        </p:nvSpPr>
        <p:spPr>
          <a:xfrm>
            <a:off x="7029450" y="27241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较 5 月 12.80%，+1.24%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00921D-6E09-44E9-A784-01BF4799518A}"/>
              </a:ext>
            </a:extLst>
          </p:cNvPr>
          <p:cNvSpPr>
            <a:spLocks noGrp="1"/>
          </p:cNvSpPr>
          <p:nvPr/>
        </p:nvSpPr>
        <p:spPr>
          <a:xfrm>
            <a:off x="9105900" y="457200"/>
            <a:ext cx="2686050" cy="25527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F15AD9-4CB5-4F18-BA8A-55A1396B4B9A}"/>
              </a:ext>
            </a:extLst>
          </p:cNvPr>
          <p:cNvSpPr>
            <a:spLocks noGrp="1"/>
          </p:cNvSpPr>
          <p:nvPr/>
        </p:nvSpPr>
        <p:spPr>
          <a:xfrm>
            <a:off x="9334500" y="6858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关键判断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39623F-A53D-4B21-A1EA-7139B5FD50E4}"/>
              </a:ext>
            </a:extLst>
          </p:cNvPr>
          <p:cNvSpPr>
            <a:spLocks noGrp="1"/>
          </p:cNvSpPr>
          <p:nvPr/>
        </p:nvSpPr>
        <p:spPr>
          <a:xfrm>
            <a:off x="9334500" y="1152525"/>
            <a:ext cx="76200" cy="76200"/>
          </a:xfrm>
          <a:prstGeom prst="rect">
            <a:avLst/>
          </a:prstGeom>
          <a:solidFill>
            <a:srgbClr val="108A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4D7CA1-A047-4A18-86F5-B4EC4D9ADE57}"/>
              </a:ext>
            </a:extLst>
          </p:cNvPr>
          <p:cNvSpPr>
            <a:spLocks noGrp="1"/>
          </p:cNvSpPr>
          <p:nvPr/>
        </p:nvSpPr>
        <p:spPr>
          <a:xfrm>
            <a:off x="9505950" y="10858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销售增长快于交付增长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963D65-337A-4671-B44F-C3A7AA5614CC}"/>
              </a:ext>
            </a:extLst>
          </p:cNvPr>
          <p:cNvSpPr>
            <a:spLocks noGrp="1"/>
          </p:cNvSpPr>
          <p:nvPr/>
        </p:nvSpPr>
        <p:spPr>
          <a:xfrm>
            <a:off x="9334500" y="1647825"/>
            <a:ext cx="76200" cy="76200"/>
          </a:xfrm>
          <a:prstGeom prst="rect">
            <a:avLst/>
          </a:prstGeom>
          <a:solidFill>
            <a:srgbClr val="C5341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B16A6A-C2AC-42B5-B5E8-5621CF81325A}"/>
              </a:ext>
            </a:extLst>
          </p:cNvPr>
          <p:cNvSpPr>
            <a:spLocks noGrp="1"/>
          </p:cNvSpPr>
          <p:nvPr/>
        </p:nvSpPr>
        <p:spPr>
          <a:xfrm>
            <a:off x="9505950" y="1523258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 dirty="0" err="1">
                <a:solidFill>
                  <a:srgbClr val="000000"/>
                </a:solidFill>
              </a:rPr>
              <a:t>接待用户基本持平，互动用户</a:t>
            </a:r>
            <a:r>
              <a:rPr sz="1350" b="0" dirty="0">
                <a:solidFill>
                  <a:srgbClr val="000000"/>
                </a:solidFill>
              </a:rPr>
              <a:t> -11.6%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82F0FB-E395-4BFB-8F20-B487C5E0FD74}"/>
              </a:ext>
            </a:extLst>
          </p:cNvPr>
          <p:cNvSpPr>
            <a:spLocks noGrp="1"/>
          </p:cNvSpPr>
          <p:nvPr/>
        </p:nvSpPr>
        <p:spPr>
          <a:xfrm>
            <a:off x="9334500" y="2200275"/>
            <a:ext cx="762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7E3D2C-F405-4BB0-94E9-385DDA6568D4}"/>
              </a:ext>
            </a:extLst>
          </p:cNvPr>
          <p:cNvSpPr>
            <a:spLocks noGrp="1"/>
          </p:cNvSpPr>
          <p:nvPr/>
        </p:nvSpPr>
        <p:spPr>
          <a:xfrm>
            <a:off x="9505950" y="20764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 dirty="0" err="1">
                <a:solidFill>
                  <a:srgbClr val="000000"/>
                </a:solidFill>
              </a:rPr>
              <a:t>线索率提升，说明承接能力仍在</a:t>
            </a:r>
            <a:endParaRPr sz="1350" b="0" dirty="0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BDEC14-C7BE-4D88-8258-45FD2F301E40}"/>
              </a:ext>
            </a:extLst>
          </p:cNvPr>
          <p:cNvSpPr>
            <a:spLocks noGrp="1"/>
          </p:cNvSpPr>
          <p:nvPr/>
        </p:nvSpPr>
        <p:spPr>
          <a:xfrm>
            <a:off x="9334500" y="2638425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 dirty="0" err="1">
                <a:solidFill>
                  <a:srgbClr val="555555"/>
                </a:solidFill>
              </a:rPr>
              <a:t>下一期重点是把客户活跃和访客开聊补上</a:t>
            </a:r>
            <a:r>
              <a:rPr sz="1050" b="0" dirty="0">
                <a:solidFill>
                  <a:srgbClr val="555555"/>
                </a:solidFill>
              </a:rPr>
              <a:t>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D4B4C8-A40B-4E7E-9E01-11F7202892D1}"/>
              </a:ext>
            </a:extLst>
          </p:cNvPr>
          <p:cNvSpPr>
            <a:spLocks noGrp="1"/>
          </p:cNvSpPr>
          <p:nvPr/>
        </p:nvSpPr>
        <p:spPr>
          <a:xfrm>
            <a:off x="400050" y="3333749"/>
            <a:ext cx="3448050" cy="3067049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37C197-7A88-4CE5-A3E5-ACC5D508DEA6}"/>
              </a:ext>
            </a:extLst>
          </p:cNvPr>
          <p:cNvSpPr>
            <a:spLocks noGrp="1"/>
          </p:cNvSpPr>
          <p:nvPr/>
        </p:nvSpPr>
        <p:spPr>
          <a:xfrm>
            <a:off x="628650" y="3543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销售与交付趋势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DAF3F2-7286-4944-B260-64E2D10AF3F1}"/>
              </a:ext>
            </a:extLst>
          </p:cNvPr>
          <p:cNvSpPr>
            <a:spLocks noGrp="1"/>
          </p:cNvSpPr>
          <p:nvPr/>
        </p:nvSpPr>
        <p:spPr>
          <a:xfrm>
            <a:off x="628650" y="40005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售卖客户从 779 增至 1056，增长 35.6%；已交付客户从 540 增至 623，增长 15.4%。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84A3B5-0D29-4322-B625-4CBC053367D3}"/>
              </a:ext>
            </a:extLst>
          </p:cNvPr>
          <p:cNvSpPr>
            <a:spLocks noGrp="1"/>
          </p:cNvSpPr>
          <p:nvPr/>
        </p:nvSpPr>
        <p:spPr>
          <a:xfrm>
            <a:off x="628650" y="481965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诊断：市场接受度提升，但交付/运营增速低于销售增速，要让新增客户更快进入有效使用。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D8AF0B-B9EF-4245-B0B2-E08CF698897D}"/>
              </a:ext>
            </a:extLst>
          </p:cNvPr>
          <p:cNvSpPr>
            <a:spLocks noGrp="1"/>
          </p:cNvSpPr>
          <p:nvPr/>
        </p:nvSpPr>
        <p:spPr>
          <a:xfrm>
            <a:off x="4267200" y="3333750"/>
            <a:ext cx="3390900" cy="31051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1F75DF-3AB2-4BB5-BE84-90637EA9227C}"/>
              </a:ext>
            </a:extLst>
          </p:cNvPr>
          <p:cNvSpPr>
            <a:spLocks noGrp="1"/>
          </p:cNvSpPr>
          <p:nvPr/>
        </p:nvSpPr>
        <p:spPr>
          <a:xfrm>
            <a:off x="4495800" y="3543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客户使用活跃</a:t>
            </a:r>
          </a:p>
        </p:txBody>
      </p:sp>
      <p:graphicFrame>
        <p:nvGraphicFramePr>
          <p:cNvPr id="91" name="Chart"/>
          <p:cNvGraphicFramePr/>
          <p:nvPr>
            <p:extLst>
              <p:ext uri="{D42A27DB-BD31-4B8C-83A1-F6EECF244321}">
                <p14:modId xmlns:p14="http://schemas.microsoft.com/office/powerpoint/2010/main" val="260700785"/>
              </p:ext>
            </p:extLst>
          </p:nvPr>
        </p:nvGraphicFramePr>
        <p:xfrm>
          <a:off x="4533900" y="3981449"/>
          <a:ext cx="2895600" cy="1805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EF427536-A297-485B-8518-A28708462BDB}"/>
              </a:ext>
            </a:extLst>
          </p:cNvPr>
          <p:cNvSpPr>
            <a:spLocks noGrp="1"/>
          </p:cNvSpPr>
          <p:nvPr/>
        </p:nvSpPr>
        <p:spPr>
          <a:xfrm>
            <a:off x="4495800" y="5786498"/>
            <a:ext cx="2933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活跃客户 187→216，有效果客户 216→253，但使用活跃率仍只有 34.6%，活跃面还不够宽。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84C858-80F4-40DD-AD44-D7B21294D795}"/>
              </a:ext>
            </a:extLst>
          </p:cNvPr>
          <p:cNvSpPr>
            <a:spLocks noGrp="1"/>
          </p:cNvSpPr>
          <p:nvPr/>
        </p:nvSpPr>
        <p:spPr>
          <a:xfrm>
            <a:off x="8134350" y="3333750"/>
            <a:ext cx="3657600" cy="3067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D1EB95-AFA3-4039-94AA-497D142CE549}"/>
              </a:ext>
            </a:extLst>
          </p:cNvPr>
          <p:cNvSpPr>
            <a:spLocks noGrp="1"/>
          </p:cNvSpPr>
          <p:nvPr/>
        </p:nvSpPr>
        <p:spPr>
          <a:xfrm>
            <a:off x="8362950" y="3543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访客转化诊断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BBA649-C59D-452A-B548-21F034E419B0}"/>
              </a:ext>
            </a:extLst>
          </p:cNvPr>
          <p:cNvSpPr>
            <a:spLocks noGrp="1"/>
          </p:cNvSpPr>
          <p:nvPr/>
        </p:nvSpPr>
        <p:spPr>
          <a:xfrm>
            <a:off x="8362950" y="3981450"/>
            <a:ext cx="2857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8D6379-33F8-4761-9AB0-2CBF787643D4}"/>
              </a:ext>
            </a:extLst>
          </p:cNvPr>
          <p:cNvSpPr>
            <a:spLocks noGrp="1"/>
          </p:cNvSpPr>
          <p:nvPr/>
        </p:nvSpPr>
        <p:spPr>
          <a:xfrm>
            <a:off x="8477250" y="40767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接待用户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98C31C-5420-4587-B3CB-13559449219A}"/>
              </a:ext>
            </a:extLst>
          </p:cNvPr>
          <p:cNvSpPr>
            <a:spLocks noGrp="1"/>
          </p:cNvSpPr>
          <p:nvPr/>
        </p:nvSpPr>
        <p:spPr>
          <a:xfrm>
            <a:off x="9639300" y="4019550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59,178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E73B01-49FF-4AC2-B49A-170287ACCBA1}"/>
              </a:ext>
            </a:extLst>
          </p:cNvPr>
          <p:cNvSpPr>
            <a:spLocks noGrp="1"/>
          </p:cNvSpPr>
          <p:nvPr/>
        </p:nvSpPr>
        <p:spPr>
          <a:xfrm>
            <a:off x="8362950" y="4514850"/>
            <a:ext cx="2857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7626F9-BC4F-4835-ABBB-EDDE1757004A}"/>
              </a:ext>
            </a:extLst>
          </p:cNvPr>
          <p:cNvSpPr>
            <a:spLocks noGrp="1"/>
          </p:cNvSpPr>
          <p:nvPr/>
        </p:nvSpPr>
        <p:spPr>
          <a:xfrm>
            <a:off x="8477250" y="461010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互动用户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CABDD0-8293-4170-ABD9-55FD340DDBF3}"/>
              </a:ext>
            </a:extLst>
          </p:cNvPr>
          <p:cNvSpPr>
            <a:spLocks noGrp="1"/>
          </p:cNvSpPr>
          <p:nvPr/>
        </p:nvSpPr>
        <p:spPr>
          <a:xfrm>
            <a:off x="9639300" y="45529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C5341C"/>
                </a:solidFill>
              </a:defRPr>
            </a:pPr>
            <a:r>
              <a:rPr sz="1875" b="1">
                <a:solidFill>
                  <a:srgbClr val="C5341C"/>
                </a:solidFill>
              </a:rPr>
              <a:t>2,350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165789-9559-46D3-907B-5BD46873ECBB}"/>
              </a:ext>
            </a:extLst>
          </p:cNvPr>
          <p:cNvSpPr>
            <a:spLocks noGrp="1"/>
          </p:cNvSpPr>
          <p:nvPr/>
        </p:nvSpPr>
        <p:spPr>
          <a:xfrm>
            <a:off x="8362950" y="510540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接待用户 58,828→59,178，+0.6%；互动用户 2,657→2,350，-11.6%；线索量 340→330，-2.9%。核心问题是开聊人数下降。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6BB17A-5078-44BB-9DB7-2BB64F0BB885}"/>
              </a:ext>
            </a:extLst>
          </p:cNvPr>
          <p:cNvSpPr>
            <a:spLocks noGrp="1"/>
          </p:cNvSpPr>
          <p:nvPr/>
        </p:nvSpPr>
        <p:spPr>
          <a:xfrm>
            <a:off x="11410950" y="6438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0AAF8B-0A16-488D-BBE7-F0B86D29D6A9}"/>
              </a:ext>
            </a:extLst>
          </p:cNvPr>
          <p:cNvSpPr>
            <a:spLocks noGrp="1"/>
          </p:cNvSpPr>
          <p:nvPr/>
        </p:nvSpPr>
        <p:spPr>
          <a:xfrm>
            <a:off x="8362950" y="3981449"/>
            <a:ext cx="2895600" cy="1944337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F44309-C18A-4F5B-96DF-9A23BB3A9E1B}"/>
              </a:ext>
            </a:extLst>
          </p:cNvPr>
          <p:cNvSpPr>
            <a:spLocks noGrp="1"/>
          </p:cNvSpPr>
          <p:nvPr/>
        </p:nvSpPr>
        <p:spPr>
          <a:xfrm>
            <a:off x="8362950" y="3981450"/>
            <a:ext cx="2857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FBB7E8-AE98-4D84-8563-B2B53DEE25EB}"/>
              </a:ext>
            </a:extLst>
          </p:cNvPr>
          <p:cNvSpPr>
            <a:spLocks noGrp="1"/>
          </p:cNvSpPr>
          <p:nvPr/>
        </p:nvSpPr>
        <p:spPr>
          <a:xfrm>
            <a:off x="8572500" y="40957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接待用户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A3EC04-DA85-4C0A-920F-862588557D00}"/>
              </a:ext>
            </a:extLst>
          </p:cNvPr>
          <p:cNvSpPr>
            <a:spLocks noGrp="1"/>
          </p:cNvSpPr>
          <p:nvPr/>
        </p:nvSpPr>
        <p:spPr>
          <a:xfrm>
            <a:off x="9639300" y="40195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59,178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1DD69E-6976-4D22-9E68-90807F404ACB}"/>
              </a:ext>
            </a:extLst>
          </p:cNvPr>
          <p:cNvSpPr>
            <a:spLocks noGrp="1"/>
          </p:cNvSpPr>
          <p:nvPr/>
        </p:nvSpPr>
        <p:spPr>
          <a:xfrm>
            <a:off x="10668000" y="41148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较 5 月 +0.6%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32924D-2228-4491-93F7-6363C7B3CD40}"/>
              </a:ext>
            </a:extLst>
          </p:cNvPr>
          <p:cNvSpPr>
            <a:spLocks noGrp="1"/>
          </p:cNvSpPr>
          <p:nvPr/>
        </p:nvSpPr>
        <p:spPr>
          <a:xfrm>
            <a:off x="8362950" y="4514850"/>
            <a:ext cx="2857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61A952-87EB-4FB5-9208-CA5A9E3488E9}"/>
              </a:ext>
            </a:extLst>
          </p:cNvPr>
          <p:cNvSpPr>
            <a:spLocks noGrp="1"/>
          </p:cNvSpPr>
          <p:nvPr/>
        </p:nvSpPr>
        <p:spPr>
          <a:xfrm>
            <a:off x="8572500" y="46291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互动用户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464C52-074C-4699-982A-B9C1E5689958}"/>
              </a:ext>
            </a:extLst>
          </p:cNvPr>
          <p:cNvSpPr>
            <a:spLocks noGrp="1"/>
          </p:cNvSpPr>
          <p:nvPr/>
        </p:nvSpPr>
        <p:spPr>
          <a:xfrm>
            <a:off x="9639300" y="4552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C5341C"/>
                </a:solidFill>
              </a:defRPr>
            </a:pPr>
            <a:r>
              <a:rPr sz="1875" b="1">
                <a:solidFill>
                  <a:srgbClr val="C5341C"/>
                </a:solidFill>
              </a:rPr>
              <a:t>2,350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873665-C7F1-4B02-841B-0729F918A518}"/>
              </a:ext>
            </a:extLst>
          </p:cNvPr>
          <p:cNvSpPr>
            <a:spLocks noGrp="1"/>
          </p:cNvSpPr>
          <p:nvPr/>
        </p:nvSpPr>
        <p:spPr>
          <a:xfrm>
            <a:off x="10668000" y="46482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较 5 月 -11.6%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E458CB-F5BC-4F2A-8821-70D874CAF229}"/>
              </a:ext>
            </a:extLst>
          </p:cNvPr>
          <p:cNvSpPr>
            <a:spLocks noGrp="1"/>
          </p:cNvSpPr>
          <p:nvPr/>
        </p:nvSpPr>
        <p:spPr>
          <a:xfrm>
            <a:off x="8458200" y="5105400"/>
            <a:ext cx="2914650" cy="6810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 dirty="0" err="1">
                <a:solidFill>
                  <a:srgbClr val="555555"/>
                </a:solidFill>
              </a:rPr>
              <a:t>线索量</a:t>
            </a:r>
            <a:r>
              <a:rPr sz="1050" b="0" dirty="0">
                <a:solidFill>
                  <a:srgbClr val="555555"/>
                </a:solidFill>
              </a:rPr>
              <a:t> 340→330，-2.9%；</a:t>
            </a:r>
            <a:r>
              <a:rPr sz="1050" b="0" dirty="0" err="1">
                <a:solidFill>
                  <a:srgbClr val="555555"/>
                </a:solidFill>
              </a:rPr>
              <a:t>在接待量基本持平的情况下，互动人数下降是主要卡点，说明下一期应优先提升</a:t>
            </a:r>
            <a:r>
              <a:rPr sz="1050" b="1" dirty="0" err="1">
                <a:solidFill>
                  <a:srgbClr val="555555"/>
                </a:solidFill>
              </a:rPr>
              <a:t>开聊意愿和会话质量</a:t>
            </a:r>
            <a:r>
              <a:rPr sz="1050" b="0" dirty="0">
                <a:solidFill>
                  <a:srgbClr val="555555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045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3A67C8C-E461-438A-A129-69DDBEE4B8B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933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后续优化：智能客服 + 知识库共同提升产品力和客户活跃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C9B1E4-AA1C-4E7C-8BB9-D9117426EC4C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项目目标不是分别做两个功能包，而是围绕“访客开聊 → 留资 → AI 回答 → 人工接管 → 知识补齐 → 客户复盘”形成运营闭环。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876787-E637-4C37-AF19-C9B9647B5899}"/>
              </a:ext>
            </a:extLst>
          </p:cNvPr>
          <p:cNvSpPr>
            <a:spLocks noGrp="1"/>
          </p:cNvSpPr>
          <p:nvPr/>
        </p:nvSpPr>
        <p:spPr>
          <a:xfrm>
            <a:off x="9163050" y="457200"/>
            <a:ext cx="2628900" cy="154305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AEF95-6837-480A-B663-43EAFD79B05F}"/>
              </a:ext>
            </a:extLst>
          </p:cNvPr>
          <p:cNvSpPr>
            <a:spLocks noGrp="1"/>
          </p:cNvSpPr>
          <p:nvPr/>
        </p:nvSpPr>
        <p:spPr>
          <a:xfrm>
            <a:off x="9391650" y="6858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项目主线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C61718-1220-4FE8-85CC-C0CF233FC2D2}"/>
              </a:ext>
            </a:extLst>
          </p:cNvPr>
          <p:cNvSpPr>
            <a:spLocks noGrp="1"/>
          </p:cNvSpPr>
          <p:nvPr/>
        </p:nvSpPr>
        <p:spPr>
          <a:xfrm>
            <a:off x="9391650" y="1066800"/>
            <a:ext cx="2057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智能客服解决会话转化，知识库解决回答质量和待补内容，两者共同支撑数据看板和客户活跃。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0147A6-8010-4BB2-86B3-D63B4D68E9FE}"/>
              </a:ext>
            </a:extLst>
          </p:cNvPr>
          <p:cNvSpPr>
            <a:spLocks noGrp="1"/>
          </p:cNvSpPr>
          <p:nvPr/>
        </p:nvSpPr>
        <p:spPr>
          <a:xfrm>
            <a:off x="400050" y="2171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问题/需求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3DDE58-73E0-4E77-BA14-75D770DBBE1F}"/>
              </a:ext>
            </a:extLst>
          </p:cNvPr>
          <p:cNvSpPr>
            <a:spLocks noGrp="1"/>
          </p:cNvSpPr>
          <p:nvPr/>
        </p:nvSpPr>
        <p:spPr>
          <a:xfrm>
            <a:off x="2419350" y="2171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智能客服新增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BF6BA-2A64-4A3C-8221-DC789680A33A}"/>
              </a:ext>
            </a:extLst>
          </p:cNvPr>
          <p:cNvSpPr>
            <a:spLocks noGrp="1"/>
          </p:cNvSpPr>
          <p:nvPr/>
        </p:nvSpPr>
        <p:spPr>
          <a:xfrm>
            <a:off x="5905500" y="2171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知识库新增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9D49B-02EE-4CC9-9630-7670B70C9298}"/>
              </a:ext>
            </a:extLst>
          </p:cNvPr>
          <p:cNvSpPr>
            <a:spLocks noGrp="1"/>
          </p:cNvSpPr>
          <p:nvPr/>
        </p:nvSpPr>
        <p:spPr>
          <a:xfrm>
            <a:off x="9410700" y="2171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计划效果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2EF3E5-DBEB-407A-A500-142674D73062}"/>
              </a:ext>
            </a:extLst>
          </p:cNvPr>
          <p:cNvSpPr>
            <a:spLocks noGrp="1"/>
          </p:cNvSpPr>
          <p:nvPr/>
        </p:nvSpPr>
        <p:spPr>
          <a:xfrm>
            <a:off x="400050" y="2495550"/>
            <a:ext cx="11391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E26ED0-2DA8-4F89-A8BF-A581D5917C6E}"/>
              </a:ext>
            </a:extLst>
          </p:cNvPr>
          <p:cNvSpPr>
            <a:spLocks noGrp="1"/>
          </p:cNvSpPr>
          <p:nvPr/>
        </p:nvSpPr>
        <p:spPr>
          <a:xfrm>
            <a:off x="400050" y="2495550"/>
            <a:ext cx="95250" cy="6286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4C7F1D-7DE3-4572-9F12-ADEBFD0C0D69}"/>
              </a:ext>
            </a:extLst>
          </p:cNvPr>
          <p:cNvSpPr>
            <a:spLocks noGrp="1"/>
          </p:cNvSpPr>
          <p:nvPr/>
        </p:nvSpPr>
        <p:spPr>
          <a:xfrm>
            <a:off x="628650" y="2628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开聊意愿弱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3882CF-69ED-4AC9-992F-9C411FAD3D6F}"/>
              </a:ext>
            </a:extLst>
          </p:cNvPr>
          <p:cNvSpPr>
            <a:spLocks noGrp="1"/>
          </p:cNvSpPr>
          <p:nvPr/>
        </p:nvSpPr>
        <p:spPr>
          <a:xfrm>
            <a:off x="2419350" y="25812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人设注入、语言跟随、页面上下文、confirm_dialog 追问卡，让访客更容易进入有效对话。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AFA936-2983-4513-AB40-1C569EAFF082}"/>
              </a:ext>
            </a:extLst>
          </p:cNvPr>
          <p:cNvSpPr>
            <a:spLocks noGrp="1"/>
          </p:cNvSpPr>
          <p:nvPr/>
        </p:nvSpPr>
        <p:spPr>
          <a:xfrm>
            <a:off x="5905500" y="25812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按页面/行业沉淀高频问题和推荐 FAQ，给开场话术与页面知识提供依据。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62E369-A046-4FF0-BF02-922358DCCDB9}"/>
              </a:ext>
            </a:extLst>
          </p:cNvPr>
          <p:cNvSpPr>
            <a:spLocks noGrp="1"/>
          </p:cNvSpPr>
          <p:nvPr/>
        </p:nvSpPr>
        <p:spPr>
          <a:xfrm>
            <a:off x="9410700" y="26098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提升互动率和平均对话轮次。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22B76C-F009-4858-91C7-6EB5859161C2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11391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8C219F-328C-4022-88A7-B847E0D1FDDF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95250" cy="6286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6AC73B-B581-4705-8A07-1EEEA7C07458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留资阻力高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AF1461-305C-4E89-B138-FA1C0CD8A236}"/>
              </a:ext>
            </a:extLst>
          </p:cNvPr>
          <p:cNvSpPr>
            <a:spLocks noGrp="1"/>
          </p:cNvSpPr>
          <p:nvPr/>
        </p:nvSpPr>
        <p:spPr>
          <a:xfrm>
            <a:off x="2419350" y="336232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渐进式表单、字段启用/禁用、表单 + 企业微信多渠道并存，减少“被套信息”感。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B81624-5D69-470E-8C26-8B870E96DA43}"/>
              </a:ext>
            </a:extLst>
          </p:cNvPr>
          <p:cNvSpPr>
            <a:spLocks noGrp="1"/>
          </p:cNvSpPr>
          <p:nvPr/>
        </p:nvSpPr>
        <p:spPr>
          <a:xfrm>
            <a:off x="5905500" y="336232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线索关联会话，记录来源页面、访客问题、AI 回答和知识命中情况。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49AE6-C415-4047-B440-5C63C32EE2B9}"/>
              </a:ext>
            </a:extLst>
          </p:cNvPr>
          <p:cNvSpPr>
            <a:spLocks noGrp="1"/>
          </p:cNvSpPr>
          <p:nvPr/>
        </p:nvSpPr>
        <p:spPr>
          <a:xfrm>
            <a:off x="9410700" y="33909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提升留资完成率和销售跟进质量。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E0BF70-494D-4A4F-900A-CD8936FD82CB}"/>
              </a:ext>
            </a:extLst>
          </p:cNvPr>
          <p:cNvSpPr>
            <a:spLocks noGrp="1"/>
          </p:cNvSpPr>
          <p:nvPr/>
        </p:nvSpPr>
        <p:spPr>
          <a:xfrm>
            <a:off x="400050" y="4057650"/>
            <a:ext cx="11391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129DCB-0CAA-4D11-A4AC-CAABC299AB4F}"/>
              </a:ext>
            </a:extLst>
          </p:cNvPr>
          <p:cNvSpPr>
            <a:spLocks noGrp="1"/>
          </p:cNvSpPr>
          <p:nvPr/>
        </p:nvSpPr>
        <p:spPr>
          <a:xfrm>
            <a:off x="400050" y="4057650"/>
            <a:ext cx="95250" cy="628650"/>
          </a:xfrm>
          <a:prstGeom prst="rect">
            <a:avLst/>
          </a:prstGeom>
          <a:solidFill>
            <a:srgbClr val="276E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6AACC7-2E83-429E-B5CF-178652111A43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AI 答得不稳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C16CF1-0121-46EF-827D-A82A680F3D08}"/>
              </a:ext>
            </a:extLst>
          </p:cNvPr>
          <p:cNvSpPr>
            <a:spLocks noGrp="1"/>
          </p:cNvSpPr>
          <p:nvPr/>
        </p:nvSpPr>
        <p:spPr>
          <a:xfrm>
            <a:off x="2419350" y="41433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分析 Agent 识别需求类型，人工接管时生成 3 条回复建议，缩短坐席理解成本。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7BAC09-8D49-4B0D-98B3-F7464B0CE66B}"/>
              </a:ext>
            </a:extLst>
          </p:cNvPr>
          <p:cNvSpPr>
            <a:spLocks noGrp="1"/>
          </p:cNvSpPr>
          <p:nvPr/>
        </p:nvSpPr>
        <p:spPr>
          <a:xfrm>
            <a:off x="5905500" y="41433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补 AI 回复质量明细、未回复原因、转人工原因、引用片段和 RAG 准确率预留。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8CE1A0-0094-4C9E-A2E8-0F66B6E5BA69}"/>
              </a:ext>
            </a:extLst>
          </p:cNvPr>
          <p:cNvSpPr>
            <a:spLocks noGrp="1"/>
          </p:cNvSpPr>
          <p:nvPr/>
        </p:nvSpPr>
        <p:spPr>
          <a:xfrm>
            <a:off x="9410700" y="41719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降低答非所问，提升回复可信度。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C23661-97A4-49B2-AA68-401FB88F0806}"/>
              </a:ext>
            </a:extLst>
          </p:cNvPr>
          <p:cNvSpPr>
            <a:spLocks noGrp="1"/>
          </p:cNvSpPr>
          <p:nvPr/>
        </p:nvSpPr>
        <p:spPr>
          <a:xfrm>
            <a:off x="400050" y="4838700"/>
            <a:ext cx="11391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E5E01A-1AD9-4BDF-8F50-27F99950C7D3}"/>
              </a:ext>
            </a:extLst>
          </p:cNvPr>
          <p:cNvSpPr>
            <a:spLocks noGrp="1"/>
          </p:cNvSpPr>
          <p:nvPr/>
        </p:nvSpPr>
        <p:spPr>
          <a:xfrm>
            <a:off x="400050" y="4838700"/>
            <a:ext cx="95250" cy="628650"/>
          </a:xfrm>
          <a:prstGeom prst="rect">
            <a:avLst/>
          </a:prstGeom>
          <a:solidFill>
            <a:srgbClr val="108A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874A91-402A-4FAB-83FF-9313EA9AD3A8}"/>
              </a:ext>
            </a:extLst>
          </p:cNvPr>
          <p:cNvSpPr>
            <a:spLocks noGrp="1"/>
          </p:cNvSpPr>
          <p:nvPr/>
        </p:nvSpPr>
        <p:spPr>
          <a:xfrm>
            <a:off x="628650" y="49720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客户不会持续运营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B65D5B-F6E8-4AB1-BAD7-29B2AC7B6F70}"/>
              </a:ext>
            </a:extLst>
          </p:cNvPr>
          <p:cNvSpPr>
            <a:spLocks noGrp="1"/>
          </p:cNvSpPr>
          <p:nvPr/>
        </p:nvSpPr>
        <p:spPr>
          <a:xfrm>
            <a:off x="2419350" y="492442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优化配置和接管体验，新增对话轮次、首字响应、会话时长等最小埋点。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5E472F-0777-4357-B88B-E6F991860289}"/>
              </a:ext>
            </a:extLst>
          </p:cNvPr>
          <p:cNvSpPr>
            <a:spLocks noGrp="1"/>
          </p:cNvSpPr>
          <p:nvPr/>
        </p:nvSpPr>
        <p:spPr>
          <a:xfrm>
            <a:off x="5905500" y="492442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客户知识库体检、待补 FAQ、未回答问题、客户月报基础版，形成可执行待办。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2BD630-EC22-4DC5-9825-B4B22E22E1F5}"/>
              </a:ext>
            </a:extLst>
          </p:cNvPr>
          <p:cNvSpPr>
            <a:spLocks noGrp="1"/>
          </p:cNvSpPr>
          <p:nvPr/>
        </p:nvSpPr>
        <p:spPr>
          <a:xfrm>
            <a:off x="9410700" y="4953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提升后台活跃和客户价值感知。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E2831D-5E16-40ED-B315-4205CFBAF75B}"/>
              </a:ext>
            </a:extLst>
          </p:cNvPr>
          <p:cNvSpPr>
            <a:spLocks noGrp="1"/>
          </p:cNvSpPr>
          <p:nvPr/>
        </p:nvSpPr>
        <p:spPr>
          <a:xfrm>
            <a:off x="400050" y="5791200"/>
            <a:ext cx="3562350" cy="4191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979423-5BCE-43A4-B128-B0CB3B6903C3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产品力提升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9D6376-DB69-4071-AB24-4694B34426BF}"/>
              </a:ext>
            </a:extLst>
          </p:cNvPr>
          <p:cNvSpPr>
            <a:spLocks noGrp="1"/>
          </p:cNvSpPr>
          <p:nvPr/>
        </p:nvSpPr>
        <p:spPr>
          <a:xfrm>
            <a:off x="1733550" y="5924550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自然对话、准确回答、可追溯质量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6D6283-3BDB-4108-B4D4-C8362C574834}"/>
              </a:ext>
            </a:extLst>
          </p:cNvPr>
          <p:cNvSpPr>
            <a:spLocks noGrp="1"/>
          </p:cNvSpPr>
          <p:nvPr/>
        </p:nvSpPr>
        <p:spPr>
          <a:xfrm>
            <a:off x="4324350" y="5791200"/>
            <a:ext cx="3676650" cy="4191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BA6200-3DC0-4AC0-9581-93F55F3BD029}"/>
              </a:ext>
            </a:extLst>
          </p:cNvPr>
          <p:cNvSpPr>
            <a:spLocks noGrp="1"/>
          </p:cNvSpPr>
          <p:nvPr/>
        </p:nvSpPr>
        <p:spPr>
          <a:xfrm>
            <a:off x="4514850" y="590550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客户活跃促进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8EA6AE2-8F9B-4E97-96E0-11F634582A0A}"/>
              </a:ext>
            </a:extLst>
          </p:cNvPr>
          <p:cNvSpPr>
            <a:spLocks noGrp="1"/>
          </p:cNvSpPr>
          <p:nvPr/>
        </p:nvSpPr>
        <p:spPr>
          <a:xfrm>
            <a:off x="5810250" y="59245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配置更轻、线索更清、待办更明确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0EDE9FA-2113-4D66-A8F2-0600A583C24A}"/>
              </a:ext>
            </a:extLst>
          </p:cNvPr>
          <p:cNvSpPr>
            <a:spLocks noGrp="1"/>
          </p:cNvSpPr>
          <p:nvPr/>
        </p:nvSpPr>
        <p:spPr>
          <a:xfrm>
            <a:off x="8248650" y="5791200"/>
            <a:ext cx="3543300" cy="4191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A0EAB2-BFA2-42C5-BF6F-CD7BD3308A17}"/>
              </a:ext>
            </a:extLst>
          </p:cNvPr>
          <p:cNvSpPr>
            <a:spLocks noGrp="1"/>
          </p:cNvSpPr>
          <p:nvPr/>
        </p:nvSpPr>
        <p:spPr>
          <a:xfrm>
            <a:off x="8439150" y="59055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看板支撑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557123-AF4F-48CF-A75F-94F28EBDA14B}"/>
              </a:ext>
            </a:extLst>
          </p:cNvPr>
          <p:cNvSpPr>
            <a:spLocks noGrp="1"/>
          </p:cNvSpPr>
          <p:nvPr/>
        </p:nvSpPr>
        <p:spPr>
          <a:xfrm>
            <a:off x="9353550" y="5924550"/>
            <a:ext cx="2247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会话数据 + 知识库质量数据打通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CAD30B8-E39A-4154-9BDC-7B20369A4573}"/>
              </a:ext>
            </a:extLst>
          </p:cNvPr>
          <p:cNvSpPr>
            <a:spLocks noGrp="1"/>
          </p:cNvSpPr>
          <p:nvPr/>
        </p:nvSpPr>
        <p:spPr>
          <a:xfrm>
            <a:off x="11410950" y="643890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93255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Macintosh PowerPoint</Application>
  <DocSecurity>0</DocSecurity>
  <PresentationFormat>Widescreen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Simon Shi</cp:lastModifiedBy>
  <cp:revision>1</cp:revision>
  <dcterms:created xsi:type="dcterms:W3CDTF">2026-07-06T06:02:21Z</dcterms:created>
  <dcterms:modified xsi:type="dcterms:W3CDTF">2026-07-06T06:06:12Z</dcterms:modified>
</cp:coreProperties>
</file>